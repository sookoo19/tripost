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hyperlink" Target="https://toridori.co.jp/news/sns-toridori-research-11/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124075"/>
            <a:ext cx="5715000" cy="900113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508000">
            <a:solidFill>
              <a:srgbClr val="FBD80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6075" y="4391025"/>
            <a:ext cx="860872" cy="752475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075" y="3881438"/>
            <a:ext cx="844241" cy="844241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2247" y="3626022"/>
            <a:ext cx="802622" cy="802622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4402" y="3688564"/>
            <a:ext cx="659598" cy="702594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0049" y="-133350"/>
            <a:ext cx="860872" cy="727522"/>
          </a:xfrm>
          <a:prstGeom prst="rect">
            <a:avLst/>
          </a:prstGeom>
        </p:spPr>
      </p:pic>
      <p:pic>
        <p:nvPicPr>
          <p:cNvPr id="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5679" y="392868"/>
            <a:ext cx="844241" cy="844241"/>
          </a:xfrm>
          <a:prstGeom prst="rect">
            <a:avLst/>
          </a:prstGeom>
        </p:spPr>
      </p:pic>
      <p:pic>
        <p:nvPicPr>
          <p:cNvPr id="1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126" y="689902"/>
            <a:ext cx="802622" cy="802622"/>
          </a:xfrm>
          <a:prstGeom prst="rect">
            <a:avLst/>
          </a:prstGeom>
        </p:spPr>
      </p:pic>
      <p:pic>
        <p:nvPicPr>
          <p:cNvPr id="1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727389"/>
            <a:ext cx="702594" cy="702594"/>
          </a:xfrm>
          <a:prstGeom prst="rect">
            <a:avLst/>
          </a:prstGeom>
        </p:spPr>
      </p:pic>
      <p:sp>
        <p:nvSpPr>
          <p:cNvPr id="12" name="Text 2"/>
          <p:cNvSpPr/>
          <p:nvPr/>
        </p:nvSpPr>
        <p:spPr>
          <a:xfrm>
            <a:off x="609600" y="2124075"/>
            <a:ext cx="6172200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spc="-7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旅程共有SNS「Tripost」</a:t>
            </a:r>
            <a:endParaRPr lang="en-US" sz="3600" dirty="0"/>
          </a:p>
        </p:txBody>
      </p:sp>
      <p:sp>
        <p:nvSpPr>
          <p:cNvPr id="13" name="Text 3"/>
          <p:cNvSpPr/>
          <p:nvPr/>
        </p:nvSpPr>
        <p:spPr>
          <a:xfrm>
            <a:off x="609600" y="2786063"/>
            <a:ext cx="6172200" cy="238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開発者：鈴木 康平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508000">
            <a:solidFill>
              <a:srgbClr val="FBD80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6075" y="4391025"/>
            <a:ext cx="860872" cy="75247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074" y="3881438"/>
            <a:ext cx="844241" cy="844241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2248" y="3626022"/>
            <a:ext cx="802623" cy="802622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4402" y="3688564"/>
            <a:ext cx="659598" cy="702594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0049" y="-133350"/>
            <a:ext cx="860872" cy="727522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5679" y="392868"/>
            <a:ext cx="844241" cy="844241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126" y="689902"/>
            <a:ext cx="802622" cy="802622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" y="727389"/>
            <a:ext cx="702593" cy="702594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971550" y="609600"/>
            <a:ext cx="1023937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b="1" spc="-5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目次</a:t>
            </a:r>
            <a:endParaRPr lang="en-US" sz="2250" dirty="0"/>
          </a:p>
        </p:txBody>
      </p:sp>
      <p:sp>
        <p:nvSpPr>
          <p:cNvPr id="12" name="Text 2"/>
          <p:cNvSpPr/>
          <p:nvPr/>
        </p:nvSpPr>
        <p:spPr>
          <a:xfrm>
            <a:off x="3005138" y="1562100"/>
            <a:ext cx="3590925" cy="2019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1800" b="1" spc="-4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1.テーマ</a:t>
            </a:r>
            <a:endParaRPr lang="en-US" sz="1800" dirty="0"/>
          </a:p>
          <a:p>
            <a:pPr algn="l" indent="0" marL="0">
              <a:lnSpc>
                <a:spcPts val="3960"/>
              </a:lnSpc>
              <a:buNone/>
            </a:pPr>
            <a:r>
              <a:rPr lang="en-US" sz="1800" b="1" spc="-4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2.課題定義</a:t>
            </a:r>
            <a:endParaRPr lang="en-US" sz="1800" dirty="0"/>
          </a:p>
          <a:p>
            <a:pPr algn="l" indent="0" marL="0">
              <a:lnSpc>
                <a:spcPts val="3960"/>
              </a:lnSpc>
              <a:buNone/>
            </a:pPr>
            <a:r>
              <a:rPr lang="en-US" sz="1800" b="1" spc="-4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3.プロダクツの魅力</a:t>
            </a:r>
            <a:endParaRPr lang="en-US" sz="1800" dirty="0"/>
          </a:p>
          <a:p>
            <a:pPr algn="l" indent="0" marL="0">
              <a:lnSpc>
                <a:spcPts val="3960"/>
              </a:lnSpc>
              <a:buNone/>
            </a:pPr>
            <a:r>
              <a:rPr lang="en-US" sz="1800" b="1" spc="-4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4.今後の展望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508000">
            <a:solidFill>
              <a:srgbClr val="FBD80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6076" y="4391025"/>
            <a:ext cx="860873" cy="75247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076" y="3881438"/>
            <a:ext cx="844242" cy="844241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2248" y="3626022"/>
            <a:ext cx="802623" cy="802622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4402" y="3688564"/>
            <a:ext cx="659598" cy="702594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0048" y="-133350"/>
            <a:ext cx="860873" cy="727522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5678" y="392868"/>
            <a:ext cx="844242" cy="844241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125" y="689902"/>
            <a:ext cx="802623" cy="802622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" y="727389"/>
            <a:ext cx="702593" cy="702594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728663" y="609600"/>
            <a:ext cx="150495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spc="-5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1.テーマ</a:t>
            </a:r>
            <a:endParaRPr lang="en-US" sz="2250" dirty="0"/>
          </a:p>
        </p:txBody>
      </p:sp>
      <p:sp>
        <p:nvSpPr>
          <p:cNvPr id="12" name="Text 2"/>
          <p:cNvSpPr/>
          <p:nvPr/>
        </p:nvSpPr>
        <p:spPr>
          <a:xfrm>
            <a:off x="2543175" y="1171575"/>
            <a:ext cx="4500563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spc="-7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「旅を、気軽に。」</a:t>
            </a:r>
            <a:endParaRPr lang="en-US" sz="3600" dirty="0"/>
          </a:p>
        </p:txBody>
      </p:sp>
      <p:sp>
        <p:nvSpPr>
          <p:cNvPr id="13" name="Text 3"/>
          <p:cNvSpPr/>
          <p:nvPr/>
        </p:nvSpPr>
        <p:spPr>
          <a:xfrm>
            <a:off x="1057275" y="2109788"/>
            <a:ext cx="7481888" cy="238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自分の旅を記録し、他人の旅からインスピレーションを得られる旅程共有SNS『TRIPOST』</a:t>
            </a:r>
            <a:endParaRPr lang="en-US" sz="1350" dirty="0"/>
          </a:p>
        </p:txBody>
      </p:sp>
      <p:sp>
        <p:nvSpPr>
          <p:cNvPr id="14" name="Text 4"/>
          <p:cNvSpPr/>
          <p:nvPr/>
        </p:nvSpPr>
        <p:spPr>
          <a:xfrm>
            <a:off x="2595563" y="2709863"/>
            <a:ext cx="4452938" cy="1285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3375"/>
              </a:lnSpc>
              <a:buSzPct val="100000"/>
              <a:buChar char="•"/>
            </a:pPr>
            <a:r>
              <a:rPr lang="en-US" sz="1350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旅の思い出・写真・ルートを投稿・共有</a:t>
            </a:r>
            <a:endParaRPr lang="en-US" sz="1350" dirty="0"/>
          </a:p>
          <a:p>
            <a:pPr algn="l" marL="342900" indent="-342900">
              <a:lnSpc>
                <a:spcPts val="3375"/>
              </a:lnSpc>
              <a:buSzPct val="100000"/>
              <a:buChar char="•"/>
            </a:pPr>
            <a:r>
              <a:rPr lang="en-US" sz="1350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他人の旅からアイデアを発見</a:t>
            </a:r>
            <a:endParaRPr lang="en-US" sz="1350" dirty="0"/>
          </a:p>
          <a:p>
            <a:pPr algn="l" marL="342900" indent="-342900">
              <a:lnSpc>
                <a:spcPts val="3375"/>
              </a:lnSpc>
              <a:buSzPct val="100000"/>
              <a:buChar char="•"/>
            </a:pPr>
            <a:r>
              <a:rPr lang="en-US" sz="1350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スタイルや目的別に「自分に合う旅」を検索可能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508000">
            <a:solidFill>
              <a:srgbClr val="FBD80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6078" y="4391025"/>
            <a:ext cx="860872" cy="75247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076" y="3881438"/>
            <a:ext cx="844242" cy="844241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2250" y="3626022"/>
            <a:ext cx="802622" cy="802622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4402" y="3688564"/>
            <a:ext cx="659598" cy="702594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0048" y="-133350"/>
            <a:ext cx="860873" cy="727522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5678" y="392868"/>
            <a:ext cx="844242" cy="844241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125" y="689902"/>
            <a:ext cx="802623" cy="802622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" y="727389"/>
            <a:ext cx="702593" cy="702594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728663" y="609600"/>
            <a:ext cx="1838325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spc="-5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2.課題定義</a:t>
            </a:r>
            <a:endParaRPr lang="en-US" sz="2250" dirty="0"/>
          </a:p>
        </p:txBody>
      </p:sp>
      <p:sp>
        <p:nvSpPr>
          <p:cNvPr id="12" name="Text 2"/>
          <p:cNvSpPr/>
          <p:nvPr/>
        </p:nvSpPr>
        <p:spPr>
          <a:xfrm>
            <a:off x="733425" y="2300288"/>
            <a:ext cx="8139112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spc="-72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「旅行情報は、いま“分散”している」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508000">
            <a:solidFill>
              <a:srgbClr val="FBD80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6078" y="4391025"/>
            <a:ext cx="860872" cy="75247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076" y="3881438"/>
            <a:ext cx="844242" cy="844241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2250" y="3626022"/>
            <a:ext cx="802622" cy="802622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4402" y="3688564"/>
            <a:ext cx="659598" cy="702594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0048" y="-133350"/>
            <a:ext cx="860872" cy="727522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5681" y="392868"/>
            <a:ext cx="844242" cy="844241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125" y="689902"/>
            <a:ext cx="802622" cy="802622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" y="727389"/>
            <a:ext cx="702595" cy="702594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728663" y="609600"/>
            <a:ext cx="5595938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spc="-5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2.課題定義</a:t>
            </a:r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「旅行情報は、いま“分散”している」</a:t>
            </a:r>
            <a:endParaRPr lang="en-US" sz="2250" dirty="0"/>
          </a:p>
        </p:txBody>
      </p:sp>
      <p:sp>
        <p:nvSpPr>
          <p:cNvPr id="12" name="Text 2"/>
          <p:cNvSpPr/>
          <p:nvPr/>
        </p:nvSpPr>
        <p:spPr>
          <a:xfrm>
            <a:off x="2076450" y="1476375"/>
            <a:ext cx="5443538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旅行情報の主役はUGCへ――変化する消費者行動</a:t>
            </a:r>
            <a:endParaRPr lang="en-US" sz="1800" dirty="0"/>
          </a:p>
        </p:txBody>
      </p:sp>
      <p:sp>
        <p:nvSpPr>
          <p:cNvPr id="13" name="Text 3"/>
          <p:cNvSpPr/>
          <p:nvPr/>
        </p:nvSpPr>
        <p:spPr>
          <a:xfrm>
            <a:off x="1400175" y="2205038"/>
            <a:ext cx="18049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データで見る変化</a:t>
            </a:r>
            <a:endParaRPr lang="en-US" sz="1350" dirty="0"/>
          </a:p>
        </p:txBody>
      </p:sp>
      <p:sp>
        <p:nvSpPr>
          <p:cNvPr id="14" name="Text 4"/>
          <p:cNvSpPr/>
          <p:nvPr/>
        </p:nvSpPr>
        <p:spPr>
          <a:xfrm>
            <a:off x="1400175" y="2709863"/>
            <a:ext cx="6991350" cy="657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1530"/>
              </a:lnSpc>
              <a:buSzPct val="100000"/>
              <a:buChar char="•"/>
            </a:pPr>
            <a:r>
              <a:rPr lang="en-US" sz="1125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「旅行先選びでSNSを重視する」：</a:t>
            </a:r>
            <a:pPr algn="l" indent="0" marL="0">
              <a:lnSpc>
                <a:spcPts val="1530"/>
              </a:lnSpc>
              <a:buNone/>
            </a:pPr>
            <a:r>
              <a:rPr lang="en-US" sz="1125" b="1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約6割（60.8%）</a:t>
            </a:r>
            <a:pPr algn="l" indent="0" marL="0">
              <a:lnSpc>
                <a:spcPts val="1530"/>
              </a:lnSpc>
              <a:buNone/>
            </a:pPr>
            <a:r>
              <a:rPr lang="en-US" sz="1125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[1]</a:t>
            </a:r>
            <a:endParaRPr lang="en-US" sz="1125" dirty="0"/>
          </a:p>
          <a:p>
            <a:pPr algn="l" marL="342900" indent="-342900">
              <a:lnSpc>
                <a:spcPts val="1530"/>
              </a:lnSpc>
              <a:buSzPct val="100000"/>
              <a:buChar char="•"/>
            </a:pPr>
            <a:r>
              <a:rPr lang="en-US" sz="1125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旅行する人の間では、観光局公式情報や旅行会社の情報よりも</a:t>
            </a:r>
            <a:pPr algn="l" indent="0" marL="0">
              <a:lnSpc>
                <a:spcPts val="1530"/>
              </a:lnSpc>
              <a:buNone/>
            </a:pPr>
            <a:r>
              <a:rPr lang="en-US" sz="1125" b="1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UGCの方が信頼性が高い</a:t>
            </a:r>
            <a:pPr algn="l" indent="0" marL="0">
              <a:lnSpc>
                <a:spcPts val="1530"/>
              </a:lnSpc>
              <a:buNone/>
            </a:pPr>
            <a:r>
              <a:rPr lang="en-US" sz="1125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[2]</a:t>
            </a:r>
            <a:endParaRPr lang="en-US" sz="1125" dirty="0"/>
          </a:p>
        </p:txBody>
      </p:sp>
      <p:sp>
        <p:nvSpPr>
          <p:cNvPr id="15" name="Text 5"/>
          <p:cNvSpPr/>
          <p:nvPr/>
        </p:nvSpPr>
        <p:spPr>
          <a:xfrm>
            <a:off x="2943225" y="4324350"/>
            <a:ext cx="6300788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[1] toridori.「【調査レポート】6割以上のユーザーが旅行先選びでSNSの情報を重視！観光業界が知っておきたい「SNS×旅行」の新習慣を、インフルエンサーマーケティング企業toridoriが徹底調査」.</a:t>
            </a:r>
            <a:pPr algn="l" indent="0" marL="0">
              <a:lnSpc>
                <a:spcPts val="1050"/>
              </a:lnSpc>
              <a:buNone/>
            </a:pPr>
            <a:r>
              <a:rPr lang="en-US" sz="750" u="sng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https://toridori.co.jp/news/sns-toridori-research-11/</a:t>
            </a:r>
            <a:pPr algn="l" indent="0" marL="0">
              <a:lnSpc>
                <a:spcPts val="1050"/>
              </a:lnSpc>
              <a:buNone/>
            </a:pPr>
            <a:r>
              <a:rPr lang="en-US" sz="750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,（2024.2.6）</a:t>
            </a:r>
            <a:endParaRPr lang="en-US" sz="75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750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[2] Deepti R. Jog, Nelissa Andrea Alcasoas. 「Travel decision making through blogs and vlogs: An empirical investigation on how user-generated content influences destination image」. Turyzm/Tourism. 2023, 33(2), 19-28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508000">
            <a:solidFill>
              <a:srgbClr val="FBD80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47763" y="1709738"/>
            <a:ext cx="3429000" cy="3009900"/>
          </a:xfrm>
          <a:prstGeom prst="roundRect">
            <a:avLst>
              <a:gd name="adj" fmla="val 7291"/>
            </a:avLst>
          </a:prstGeom>
          <a:solidFill>
            <a:srgbClr val="000000">
              <a:alpha val="10000"/>
            </a:srgbClr>
          </a:solidFill>
          <a:ln w="50800">
            <a:solidFill>
              <a:srgbClr val="000000">
                <a:alpha val="1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0" y="2476500"/>
            <a:ext cx="1147763" cy="1147763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788" y="1847850"/>
            <a:ext cx="609600" cy="6096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450" y="2709863"/>
            <a:ext cx="681038" cy="478854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463" y="3433763"/>
            <a:ext cx="472483" cy="677348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2712" y="2152650"/>
            <a:ext cx="1500471" cy="965568"/>
          </a:xfrm>
          <a:prstGeom prst="rect">
            <a:avLst/>
          </a:prstGeom>
        </p:spPr>
      </p:pic>
      <p:pic>
        <p:nvPicPr>
          <p:cNvPr id="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2713" y="2947988"/>
            <a:ext cx="1496276" cy="207318"/>
          </a:xfrm>
          <a:prstGeom prst="rect">
            <a:avLst/>
          </a:prstGeom>
        </p:spPr>
      </p:pic>
      <p:pic>
        <p:nvPicPr>
          <p:cNvPr id="1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2712" y="3081338"/>
            <a:ext cx="1498825" cy="620200"/>
          </a:xfrm>
          <a:prstGeom prst="rect">
            <a:avLst/>
          </a:prstGeom>
        </p:spPr>
      </p:pic>
      <p:pic>
        <p:nvPicPr>
          <p:cNvPr id="1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2712" y="3081338"/>
            <a:ext cx="1501234" cy="1171164"/>
          </a:xfrm>
          <a:prstGeom prst="rect">
            <a:avLst/>
          </a:prstGeom>
        </p:spPr>
      </p:pic>
      <p:pic>
        <p:nvPicPr>
          <p:cNvPr id="1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3188" y="2586038"/>
            <a:ext cx="1890713" cy="991632"/>
          </a:xfrm>
          <a:prstGeom prst="rect">
            <a:avLst/>
          </a:prstGeom>
        </p:spPr>
      </p:pic>
      <p:pic>
        <p:nvPicPr>
          <p:cNvPr id="1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76825" y="3081338"/>
            <a:ext cx="1247775" cy="561134"/>
          </a:xfrm>
          <a:prstGeom prst="rect">
            <a:avLst/>
          </a:prstGeom>
        </p:spPr>
      </p:pic>
      <p:pic>
        <p:nvPicPr>
          <p:cNvPr id="1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96078" y="4391025"/>
            <a:ext cx="860872" cy="752475"/>
          </a:xfrm>
          <a:prstGeom prst="rect">
            <a:avLst/>
          </a:prstGeom>
        </p:spPr>
      </p:pic>
      <p:pic>
        <p:nvPicPr>
          <p:cNvPr id="1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77076" y="3881438"/>
            <a:ext cx="844242" cy="844241"/>
          </a:xfrm>
          <a:prstGeom prst="rect">
            <a:avLst/>
          </a:prstGeom>
        </p:spPr>
      </p:pic>
      <p:pic>
        <p:nvPicPr>
          <p:cNvPr id="1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12250" y="3626022"/>
            <a:ext cx="802622" cy="802622"/>
          </a:xfrm>
          <a:prstGeom prst="rect">
            <a:avLst/>
          </a:prstGeom>
        </p:spPr>
      </p:pic>
      <p:pic>
        <p:nvPicPr>
          <p:cNvPr id="1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84402" y="3688564"/>
            <a:ext cx="659598" cy="702594"/>
          </a:xfrm>
          <a:prstGeom prst="rect">
            <a:avLst/>
          </a:prstGeom>
        </p:spPr>
      </p:pic>
      <p:pic>
        <p:nvPicPr>
          <p:cNvPr id="1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30048" y="-133350"/>
            <a:ext cx="860872" cy="727522"/>
          </a:xfrm>
          <a:prstGeom prst="rect">
            <a:avLst/>
          </a:prstGeom>
        </p:spPr>
      </p:pic>
      <p:pic>
        <p:nvPicPr>
          <p:cNvPr id="1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65681" y="392868"/>
            <a:ext cx="844242" cy="844241"/>
          </a:xfrm>
          <a:prstGeom prst="rect">
            <a:avLst/>
          </a:prstGeom>
        </p:spPr>
      </p:pic>
      <p:pic>
        <p:nvPicPr>
          <p:cNvPr id="2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2125" y="689902"/>
            <a:ext cx="802622" cy="802622"/>
          </a:xfrm>
          <a:prstGeom prst="rect">
            <a:avLst/>
          </a:prstGeom>
        </p:spPr>
      </p:pic>
      <p:pic>
        <p:nvPicPr>
          <p:cNvPr id="21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" y="727389"/>
            <a:ext cx="702595" cy="702594"/>
          </a:xfrm>
          <a:prstGeom prst="rect">
            <a:avLst/>
          </a:prstGeom>
        </p:spPr>
      </p:pic>
      <p:sp>
        <p:nvSpPr>
          <p:cNvPr id="22" name="Text 2"/>
          <p:cNvSpPr/>
          <p:nvPr/>
        </p:nvSpPr>
        <p:spPr>
          <a:xfrm>
            <a:off x="728663" y="609600"/>
            <a:ext cx="5595938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spc="-5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2.課題定義</a:t>
            </a:r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「旅行情報は、いま“分散”している」</a:t>
            </a:r>
            <a:endParaRPr lang="en-US" sz="2250" dirty="0"/>
          </a:p>
        </p:txBody>
      </p:sp>
      <p:sp>
        <p:nvSpPr>
          <p:cNvPr id="23" name="Text 3"/>
          <p:cNvSpPr/>
          <p:nvPr/>
        </p:nvSpPr>
        <p:spPr>
          <a:xfrm>
            <a:off x="3052763" y="1309688"/>
            <a:ext cx="35052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情報収集時のユーザーフロー</a:t>
            </a:r>
            <a:endParaRPr lang="en-US" sz="1800" dirty="0"/>
          </a:p>
        </p:txBody>
      </p:sp>
      <p:sp>
        <p:nvSpPr>
          <p:cNvPr id="24" name="Text 4"/>
          <p:cNvSpPr/>
          <p:nvPr/>
        </p:nvSpPr>
        <p:spPr>
          <a:xfrm>
            <a:off x="1466850" y="4329113"/>
            <a:ext cx="1638300" cy="204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旅行情報サイト</a:t>
            </a:r>
            <a:endParaRPr lang="en-US" sz="1350" dirty="0"/>
          </a:p>
        </p:txBody>
      </p:sp>
      <p:sp>
        <p:nvSpPr>
          <p:cNvPr id="25" name="Text 5"/>
          <p:cNvSpPr/>
          <p:nvPr/>
        </p:nvSpPr>
        <p:spPr>
          <a:xfrm>
            <a:off x="3967163" y="1847850"/>
            <a:ext cx="8001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従来</a:t>
            </a:r>
            <a:endParaRPr lang="en-US" sz="1350" dirty="0"/>
          </a:p>
        </p:txBody>
      </p:sp>
      <p:sp>
        <p:nvSpPr>
          <p:cNvPr id="26" name="Text 6"/>
          <p:cNvSpPr/>
          <p:nvPr/>
        </p:nvSpPr>
        <p:spPr>
          <a:xfrm>
            <a:off x="4738688" y="1847850"/>
            <a:ext cx="11334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これから</a:t>
            </a:r>
            <a:endParaRPr lang="en-US" sz="1350" dirty="0"/>
          </a:p>
        </p:txBody>
      </p:sp>
      <p:sp>
        <p:nvSpPr>
          <p:cNvPr id="27" name="Text 7"/>
          <p:cNvSpPr/>
          <p:nvPr/>
        </p:nvSpPr>
        <p:spPr>
          <a:xfrm>
            <a:off x="2743200" y="4548188"/>
            <a:ext cx="2143125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spc="-5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時間がかかる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508000">
            <a:solidFill>
              <a:srgbClr val="FBD80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1300" y="500063"/>
            <a:ext cx="1885950" cy="414337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078" y="4391025"/>
            <a:ext cx="860872" cy="752475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076" y="3881438"/>
            <a:ext cx="844242" cy="844241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2250" y="3626022"/>
            <a:ext cx="802622" cy="802622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4402" y="3688564"/>
            <a:ext cx="659598" cy="702594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0048" y="-133350"/>
            <a:ext cx="860872" cy="727522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5681" y="392868"/>
            <a:ext cx="844242" cy="844241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125" y="689902"/>
            <a:ext cx="802622" cy="802622"/>
          </a:xfrm>
          <a:prstGeom prst="rect">
            <a:avLst/>
          </a:prstGeom>
        </p:spPr>
      </p:pic>
      <p:pic>
        <p:nvPicPr>
          <p:cNvPr id="1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" y="727389"/>
            <a:ext cx="702595" cy="702594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>
            <a:off x="728663" y="609600"/>
            <a:ext cx="2957513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spc="-5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3.プロダクツの魅力</a:t>
            </a:r>
            <a:endParaRPr lang="en-US" sz="2250" dirty="0"/>
          </a:p>
        </p:txBody>
      </p:sp>
      <p:sp>
        <p:nvSpPr>
          <p:cNvPr id="13" name="Text 2"/>
          <p:cNvSpPr/>
          <p:nvPr/>
        </p:nvSpPr>
        <p:spPr>
          <a:xfrm>
            <a:off x="800100" y="1476375"/>
            <a:ext cx="325755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TRIPOSTが解決すること</a:t>
            </a:r>
            <a:pPr algn="l" indent="0" marL="0">
              <a:lnSpc>
                <a:spcPts val="1800"/>
              </a:lnSpc>
              <a:buNone/>
            </a:pPr>
            <a:r>
              <a:rPr lang="en-US" sz="1500" b="1" spc="-3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①</a:t>
            </a:r>
            <a:endParaRPr lang="en-US" sz="1800" dirty="0"/>
          </a:p>
        </p:txBody>
      </p:sp>
      <p:sp>
        <p:nvSpPr>
          <p:cNvPr id="14" name="Text 3"/>
          <p:cNvSpPr/>
          <p:nvPr/>
        </p:nvSpPr>
        <p:spPr>
          <a:xfrm>
            <a:off x="1724025" y="2005013"/>
            <a:ext cx="4786313" cy="13001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1350" b="1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旅行系UGC（ユーザー投稿）をまとめる</a:t>
            </a:r>
            <a:endParaRPr lang="en-US" sz="1350" dirty="0"/>
          </a:p>
          <a:p>
            <a:pPr algn="l" marL="342900" indent="-342900">
              <a:lnSpc>
                <a:spcPts val="2970"/>
              </a:lnSpc>
              <a:buSzPct val="100000"/>
              <a:buChar char="•"/>
            </a:pPr>
            <a:r>
              <a:rPr lang="en-US" sz="1350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様々なプラットフォームで情報収集する煩雑さを解消</a:t>
            </a:r>
            <a:endParaRPr lang="en-US" sz="1350" dirty="0"/>
          </a:p>
          <a:p>
            <a:pPr algn="l" marL="342900" indent="-342900">
              <a:lnSpc>
                <a:spcPts val="2970"/>
              </a:lnSpc>
              <a:buSzPct val="100000"/>
              <a:buChar char="•"/>
            </a:pPr>
            <a:r>
              <a:rPr lang="en-US" sz="1350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フォローやいいね機能により</a:t>
            </a:r>
            <a:endParaRPr lang="en-US" sz="135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350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　　　　　　　お気に入りのユーザーや投稿を保存可能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508000">
            <a:solidFill>
              <a:srgbClr val="FBD80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1300" y="500063"/>
            <a:ext cx="1885950" cy="414337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073" y="4391025"/>
            <a:ext cx="860872" cy="752475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080" y="3881438"/>
            <a:ext cx="844241" cy="844241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2250" y="3626022"/>
            <a:ext cx="802630" cy="802622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4402" y="3688564"/>
            <a:ext cx="659598" cy="702594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0048" y="-133350"/>
            <a:ext cx="860872" cy="727522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5681" y="392868"/>
            <a:ext cx="844242" cy="844241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125" y="689902"/>
            <a:ext cx="802622" cy="802622"/>
          </a:xfrm>
          <a:prstGeom prst="rect">
            <a:avLst/>
          </a:prstGeom>
        </p:spPr>
      </p:pic>
      <p:pic>
        <p:nvPicPr>
          <p:cNvPr id="1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" y="727389"/>
            <a:ext cx="702595" cy="702594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>
            <a:off x="728663" y="609600"/>
            <a:ext cx="2957513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spc="-5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3.プロダクツの魅力</a:t>
            </a:r>
            <a:endParaRPr lang="en-US" sz="2250" dirty="0"/>
          </a:p>
        </p:txBody>
      </p:sp>
      <p:sp>
        <p:nvSpPr>
          <p:cNvPr id="13" name="Text 2"/>
          <p:cNvSpPr/>
          <p:nvPr/>
        </p:nvSpPr>
        <p:spPr>
          <a:xfrm>
            <a:off x="800100" y="1476375"/>
            <a:ext cx="325755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TRIPOSTが解決すること</a:t>
            </a:r>
            <a:pPr algn="l" indent="0" marL="0">
              <a:lnSpc>
                <a:spcPts val="1800"/>
              </a:lnSpc>
              <a:buNone/>
            </a:pPr>
            <a:r>
              <a:rPr lang="en-US" sz="1500" b="1" spc="-3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②</a:t>
            </a:r>
            <a:endParaRPr lang="en-US" sz="1800" dirty="0"/>
          </a:p>
        </p:txBody>
      </p:sp>
      <p:sp>
        <p:nvSpPr>
          <p:cNvPr id="14" name="Text 3"/>
          <p:cNvSpPr/>
          <p:nvPr/>
        </p:nvSpPr>
        <p:spPr>
          <a:xfrm>
            <a:off x="1724025" y="2005013"/>
            <a:ext cx="4476750" cy="13001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1350" b="1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ジャンル / スタイル / 予算 / 地域 などで絞り込み可能</a:t>
            </a:r>
            <a:endParaRPr lang="en-US" sz="1350" dirty="0"/>
          </a:p>
          <a:p>
            <a:pPr algn="l" marL="342900" indent="-342900">
              <a:lnSpc>
                <a:spcPts val="2970"/>
              </a:lnSpc>
              <a:buSzPct val="100000"/>
              <a:buChar char="•"/>
            </a:pPr>
            <a:r>
              <a:rPr lang="en-US" sz="1350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自身に合った旅行を情報を見つけることができる</a:t>
            </a:r>
            <a:endParaRPr lang="en-US" sz="1350" dirty="0"/>
          </a:p>
          <a:p>
            <a:pPr algn="l" marL="342900" indent="-342900">
              <a:lnSpc>
                <a:spcPts val="2970"/>
              </a:lnSpc>
              <a:buSzPct val="100000"/>
              <a:buChar char="•"/>
            </a:pPr>
            <a:r>
              <a:rPr lang="en-US" sz="1350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いいね機能により、どの投稿が</a:t>
            </a:r>
            <a:endParaRPr lang="en-US" sz="135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350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　　 他ユーザーから高く評価されているかがわかる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508000">
            <a:solidFill>
              <a:srgbClr val="FBD80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1300" y="500063"/>
            <a:ext cx="1885950" cy="4142148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073" y="4391025"/>
            <a:ext cx="860872" cy="752475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080" y="3881438"/>
            <a:ext cx="844241" cy="844241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2250" y="3626022"/>
            <a:ext cx="802630" cy="802622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4402" y="3688564"/>
            <a:ext cx="659598" cy="702594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0048" y="-133350"/>
            <a:ext cx="860872" cy="727522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5671" y="392868"/>
            <a:ext cx="844241" cy="844241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120" y="689902"/>
            <a:ext cx="802630" cy="802622"/>
          </a:xfrm>
          <a:prstGeom prst="rect">
            <a:avLst/>
          </a:prstGeom>
        </p:spPr>
      </p:pic>
      <p:pic>
        <p:nvPicPr>
          <p:cNvPr id="1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3" y="727389"/>
            <a:ext cx="702591" cy="702594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>
            <a:off x="728663" y="609600"/>
            <a:ext cx="2957513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spc="-5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3.プロダクツの魅力</a:t>
            </a:r>
            <a:endParaRPr lang="en-US" sz="2250" dirty="0"/>
          </a:p>
        </p:txBody>
      </p:sp>
      <p:sp>
        <p:nvSpPr>
          <p:cNvPr id="13" name="Text 2"/>
          <p:cNvSpPr/>
          <p:nvPr/>
        </p:nvSpPr>
        <p:spPr>
          <a:xfrm>
            <a:off x="800100" y="1476375"/>
            <a:ext cx="325755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TRIPOSTが解決すること</a:t>
            </a:r>
            <a:pPr algn="l" indent="0" marL="0">
              <a:lnSpc>
                <a:spcPts val="1800"/>
              </a:lnSpc>
              <a:buNone/>
            </a:pPr>
            <a:r>
              <a:rPr lang="en-US" sz="1500" b="1" spc="-3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③</a:t>
            </a:r>
            <a:endParaRPr lang="en-US" sz="1800" dirty="0"/>
          </a:p>
        </p:txBody>
      </p:sp>
      <p:sp>
        <p:nvSpPr>
          <p:cNvPr id="14" name="Text 3"/>
          <p:cNvSpPr/>
          <p:nvPr/>
        </p:nvSpPr>
        <p:spPr>
          <a:xfrm>
            <a:off x="1724025" y="2005013"/>
            <a:ext cx="4991100" cy="11287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1350" b="1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投稿が地図と連動：場所・ルートを直感的に把握</a:t>
            </a:r>
            <a:endParaRPr lang="en-US" sz="1350" dirty="0"/>
          </a:p>
          <a:p>
            <a:pPr algn="l" marL="342900" indent="-342900">
              <a:lnSpc>
                <a:spcPts val="2970"/>
              </a:lnSpc>
              <a:buSzPct val="100000"/>
              <a:buChar char="•"/>
            </a:pPr>
            <a:r>
              <a:rPr lang="en-US" sz="1350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Mapsで場所を調べる煩雑さを解消</a:t>
            </a:r>
            <a:endParaRPr lang="en-US" sz="1350" dirty="0"/>
          </a:p>
          <a:p>
            <a:pPr algn="l" marL="342900" indent="-342900">
              <a:lnSpc>
                <a:spcPts val="2970"/>
              </a:lnSpc>
              <a:buSzPct val="100000"/>
              <a:buChar char="•"/>
            </a:pPr>
            <a:r>
              <a:rPr lang="en-US" sz="1350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旅行当日にはボタン一つでGoogle Mapsでルートを設定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508000">
            <a:solidFill>
              <a:srgbClr val="FBD80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6073" y="4391025"/>
            <a:ext cx="860872" cy="86087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080" y="3881438"/>
            <a:ext cx="844241" cy="844241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2250" y="3626022"/>
            <a:ext cx="802630" cy="802622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4402" y="3688564"/>
            <a:ext cx="702594" cy="702594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0048" y="-133350"/>
            <a:ext cx="860872" cy="860872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5671" y="392868"/>
            <a:ext cx="844241" cy="844241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120" y="689902"/>
            <a:ext cx="802630" cy="802622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3" y="727389"/>
            <a:ext cx="702594" cy="702594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728663" y="609600"/>
            <a:ext cx="2124075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spc="-5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4.今後の展望</a:t>
            </a:r>
            <a:endParaRPr lang="en-US" sz="2250" dirty="0"/>
          </a:p>
        </p:txBody>
      </p:sp>
      <p:sp>
        <p:nvSpPr>
          <p:cNvPr id="12" name="Text 2"/>
          <p:cNvSpPr/>
          <p:nvPr/>
        </p:nvSpPr>
        <p:spPr>
          <a:xfrm>
            <a:off x="3005138" y="1814513"/>
            <a:ext cx="4114800" cy="1514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1800" b="1" spc="-4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・React Nativeによるアプリ化</a:t>
            </a:r>
            <a:endParaRPr lang="en-US" sz="1800" dirty="0"/>
          </a:p>
          <a:p>
            <a:pPr algn="l" indent="0" marL="0">
              <a:lnSpc>
                <a:spcPts val="3960"/>
              </a:lnSpc>
              <a:buNone/>
            </a:pPr>
            <a:r>
              <a:rPr lang="en-US" sz="1800" b="1" spc="-4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・マップ機能の強化</a:t>
            </a:r>
            <a:endParaRPr lang="en-US" sz="1800" dirty="0"/>
          </a:p>
          <a:p>
            <a:pPr algn="l" indent="0" marL="0">
              <a:lnSpc>
                <a:spcPts val="3960"/>
              </a:lnSpc>
              <a:buNone/>
            </a:pPr>
            <a:r>
              <a:rPr lang="en-US" sz="1800" b="1" spc="-4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・長期的な運用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2025-10-28T10:17:05Z</dcterms:created>
  <dcterms:modified xsi:type="dcterms:W3CDTF">2025-10-28T10:17:05Z</dcterms:modified>
</cp:coreProperties>
</file>